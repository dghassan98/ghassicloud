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5" d="100"/>
          <a:sy n="105" d="100"/>
        </p:scale>
        <p:origin x="240" y="9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554086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605789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541863" name="Google Shape;81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77222945" name="Google Shape;82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657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62743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1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Abhängigkeit von großen Cloud-Providern</a:t>
            </a:r>
            <a:endParaRPr/>
          </a:p>
        </p:txBody>
      </p:sp>
      <p:sp>
        <p:nvSpPr>
          <p:cNvPr id="4568901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16C7FF-CE9C-684C-763E-0783C254DF41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945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747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0055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ABF487-97C1-1CAF-48DF-29F1B7D989EB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6189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758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851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AD8E8C-8E45-7814-0D4D-DEC3B258B9D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999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6966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8058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F9BD70-865F-E17F-D8B6-E105D45D60E9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1817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40454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537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7700A1-8956-996A-AF36-53201DF663CD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762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23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202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42AEF7-6395-2D04-A97B-81D5E10C2949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8940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32800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81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E868A1-D4CB-3137-8F50-6406DA18A8FD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9965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3708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39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25DD4-C493-4A4F-183D-E5AC88B1B4FE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elfoli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153600" name="Google Shape;12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8172153" name="Google Shape;13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876010359" name="Google Shape;14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3074072" name="Google Shape;15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87757873" name="Google Shape;16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Zwei Inhalte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77100" name="Google Shape;30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4238221" name="Google Shape;31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0281986" name="Google Shape;32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7811657" name="Google Shape;33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814314" name="Google Shape;34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225785" name="Google Shape;35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gleich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929425" name="Google Shape;37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7176094" name="Google Shape;38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046505378" name="Google Shape;39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00333570" name="Google Shape;40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2147172724" name="Google Shape;41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5871154" name="Google Shape;42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35319977" name="Google Shape;43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6959009" name="Google Shape;44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Nur Titel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103058" name="Google Shape;46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7039458" name="Google Shape;47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6625880" name="Google Shape;48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3346675" name="Google Shape;49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Leer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933559" name="Google Shape;51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5223869" name="Google Shape;52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5438464" name="Google Shape;53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nhalt mit Überschrift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064023" name="Google Shape;55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1248806" name="Google Shape;56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33340585" name="Google Shape;57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2112924078" name="Google Shape;58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6499990" name="Google Shape;59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7373154" name="Google Shape;60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ld mit Überschrift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514731" name="Google Shape;62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7149951" name="Google Shape;63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89940144" name="Google Shape;64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1950506754" name="Google Shape;65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2003283" name="Google Shape;66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3565124" name="Google Shape;67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el und vertikaler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679959" name="Google Shape;69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7540458" name="Google Shape;70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04598064" name="Google Shape;71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887506" name="Google Shape;72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868221" name="Google Shape;73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kaler Titel u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365839" name="Google Shape;75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2126297" name="Google Shape;76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4474904" name="Google Shape;77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7495184" name="Google Shape;78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3128871" name="Google Shape;79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083238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865132012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10142286" name="Google Shape;8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99009089" name="Google Shape;9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69081863" name="Google Shape;10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47886" name="Google Shape;84;p13"/>
          <p:cNvSpPr txBox="1">
            <a:spLocks noGrp="1"/>
          </p:cNvSpPr>
          <p:nvPr>
            <p:ph type="ctrTitle"/>
          </p:nvPr>
        </p:nvSpPr>
        <p:spPr bwMode="auto">
          <a:xfrm>
            <a:off x="1524000" y="369226"/>
            <a:ext cx="9144000" cy="44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1400" b="1">
              <a:latin typeface="Times New Roman"/>
              <a:ea typeface="Times New Roman"/>
              <a:cs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1400" b="1">
              <a:latin typeface="Times New Roman"/>
              <a:ea typeface="Times New Roman"/>
              <a:cs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1400" b="1">
              <a:latin typeface="Times New Roman"/>
              <a:ea typeface="Times New Roman"/>
              <a:cs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1400" b="1">
              <a:latin typeface="Times New Roman"/>
              <a:ea typeface="Times New Roman"/>
              <a:cs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1400" b="1"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1400" b="1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de-DE" sz="36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GhassiCoud: A Modern Alternative to Centralized Cloud Services</a:t>
            </a:r>
            <a:endParaRPr lang="de-DE" sz="36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de-DE" sz="2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Empowering Digital Sovereignty Through Self-Hosting</a:t>
            </a:r>
            <a:endParaRPr sz="3500"/>
          </a:p>
        </p:txBody>
      </p:sp>
      <p:sp>
        <p:nvSpPr>
          <p:cNvPr id="1203948499" name="Google Shape;85;p13"/>
          <p:cNvSpPr txBox="1">
            <a:spLocks noGrp="1"/>
          </p:cNvSpPr>
          <p:nvPr>
            <p:ph type="subTitle" idx="1"/>
          </p:nvPr>
        </p:nvSpPr>
        <p:spPr bwMode="auto">
          <a:xfrm>
            <a:off x="1523999" y="5154573"/>
            <a:ext cx="9277910" cy="973775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2" tIns="45697" rIns="91422" bIns="45697" numCol="1" spcCol="0" rtlCol="0" fromWordArt="0" anchor="t" anchorCtr="0" forceAA="0" compatLnSpc="0">
            <a:normAutofit fontScale="5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de-DE" sz="2800"/>
              <a:t>Verfasser: Ghassan Darwish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Betreuer: ao. Univ.-Prof. i.R. tit. Univ.-Prof. Dipl.-Ing. Dr. Erich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Schikuta</a:t>
            </a:r>
            <a:endParaRPr sz="2800"/>
          </a:p>
        </p:txBody>
      </p:sp>
      <p:pic>
        <p:nvPicPr>
          <p:cNvPr id="1464677338" name="Graphic 1070165115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7252499" y="119225"/>
            <a:ext cx="4708582" cy="13494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558395" name="Google Shape;30;p5"/>
          <p:cNvSpPr txBox="1"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Motivation</a:t>
            </a:r>
            <a:endParaRPr/>
          </a:p>
        </p:txBody>
      </p:sp>
      <p:sp>
        <p:nvSpPr>
          <p:cNvPr id="1871206474" name="Google Shape;31;p5"/>
          <p:cNvSpPr txBox="1">
            <a:spLocks noGrp="1"/>
          </p:cNvSpPr>
          <p:nvPr>
            <p:ph type="body" idx="1"/>
          </p:nvPr>
        </p:nvSpPr>
        <p:spPr bwMode="auto">
          <a:xfrm>
            <a:off x="838198" y="1825624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t" anchorCtr="0" forceAA="0" compatLnSpc="0">
            <a:normAutofit fontScale="97500" lnSpcReduction="12000"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Vendor Lock-in: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Abhängigkeit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von Cloud-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Providern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/>
              <a:t>Kostenkontrolle</a:t>
            </a:r>
            <a:r>
              <a:rPr/>
              <a:t>: </a:t>
            </a:r>
            <a:r>
              <a:rPr/>
              <a:t>stetig</a:t>
            </a:r>
            <a:r>
              <a:rPr/>
              <a:t> </a:t>
            </a:r>
            <a:r>
              <a:rPr/>
              <a:t>wachsende</a:t>
            </a:r>
            <a:r>
              <a:rPr/>
              <a:t> </a:t>
            </a:r>
            <a:r>
              <a:rPr/>
              <a:t>Gebühren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/>
              <a:t>Datensicherheit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</a:t>
            </a:r>
            <a:r>
              <a:rPr/>
              <a:t> </a:t>
            </a:r>
            <a:r>
              <a:rPr/>
              <a:t>volle</a:t>
            </a:r>
            <a:r>
              <a:rPr/>
              <a:t> </a:t>
            </a:r>
            <a:r>
              <a:rPr/>
              <a:t>Kontrolle</a:t>
            </a:r>
            <a:r>
              <a:rPr/>
              <a:t> </a:t>
            </a:r>
            <a:r>
              <a:rPr/>
              <a:t>über</a:t>
            </a:r>
            <a:r>
              <a:rPr/>
              <a:t> </a:t>
            </a:r>
            <a:r>
              <a:rPr/>
              <a:t>Daten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/>
              <a:t>Datentransparenz</a:t>
            </a:r>
            <a:r>
              <a:rPr/>
              <a:t>: </a:t>
            </a:r>
            <a:r>
              <a:rPr/>
              <a:t>Einsicht</a:t>
            </a:r>
            <a:r>
              <a:rPr/>
              <a:t> in </a:t>
            </a:r>
            <a:r>
              <a:rPr/>
              <a:t>Umgang</a:t>
            </a:r>
            <a:r>
              <a:rPr/>
              <a:t> </a:t>
            </a:r>
            <a:r>
              <a:rPr/>
              <a:t>mit</a:t>
            </a:r>
            <a:r>
              <a:rPr/>
              <a:t> </a:t>
            </a:r>
            <a:r>
              <a:rPr/>
              <a:t>Daten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/>
              <a:t>Bedarf</a:t>
            </a:r>
            <a:r>
              <a:rPr/>
              <a:t> an </a:t>
            </a:r>
            <a:r>
              <a:rPr/>
              <a:t>zentraler</a:t>
            </a:r>
            <a:r>
              <a:rPr/>
              <a:t> </a:t>
            </a:r>
            <a:r>
              <a:rPr/>
              <a:t>Plattform</a:t>
            </a:r>
            <a:r>
              <a:rPr/>
              <a:t> </a:t>
            </a:r>
            <a:r>
              <a:rPr/>
              <a:t>statt</a:t>
            </a:r>
            <a:r>
              <a:rPr/>
              <a:t> </a:t>
            </a:r>
            <a:r>
              <a:rPr/>
              <a:t>Insellösungen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/>
              <a:t>Open-Source: </a:t>
            </a:r>
            <a:r>
              <a:rPr/>
              <a:t>Flexibilität</a:t>
            </a:r>
            <a:r>
              <a:rPr/>
              <a:t> &amp; Community</a:t>
            </a:r>
            <a:endParaRPr/>
          </a:p>
        </p:txBody>
      </p:sp>
      <p:pic>
        <p:nvPicPr>
          <p:cNvPr id="176624458" name="Picture 170988440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78041" y="528315"/>
            <a:ext cx="3486506" cy="999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206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1206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206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71206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206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71206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206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71206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206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71206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206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71206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9522" name="Google Shape;30;p5"/>
          <p:cNvSpPr txBox="1"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Überblick</a:t>
            </a:r>
            <a:endParaRPr/>
          </a:p>
        </p:txBody>
      </p:sp>
      <p:sp>
        <p:nvSpPr>
          <p:cNvPr id="441653904" name="Google Shape;31;p5"/>
          <p:cNvSpPr txBox="1">
            <a:spLocks noGrp="1"/>
          </p:cNvSpPr>
          <p:nvPr>
            <p:ph type="body" idx="1"/>
          </p:nvPr>
        </p:nvSpPr>
        <p:spPr bwMode="auto">
          <a:xfrm>
            <a:off x="838198" y="1825624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t" anchorCtr="0" forceAA="0" compatLnSpc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Dezentralisierte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Private Cloud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Lösung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Self-Hosted &amp; Open Source</a:t>
            </a:r>
            <a:endParaRPr lang="en-US" sz="28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Single Sign-On (SSO) für alle Services</a:t>
            </a:r>
            <a:endParaRPr sz="28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Mobile/PWA‑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Zugriff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Vollständige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Datenkontrolle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147343391" name="Picture 189944822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78041" y="528315"/>
            <a:ext cx="3486506" cy="999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53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1653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539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16539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539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16539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539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16539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539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16539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65390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919320" name="Google Shape;30;p5"/>
          <p:cNvSpPr txBox="1"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Ziele</a:t>
            </a:r>
            <a:endParaRPr/>
          </a:p>
        </p:txBody>
      </p:sp>
      <p:sp>
        <p:nvSpPr>
          <p:cNvPr id="330204869" name="Google Shape;31;p5"/>
          <p:cNvSpPr txBox="1">
            <a:spLocks noGrp="1"/>
          </p:cNvSpPr>
          <p:nvPr>
            <p:ph type="body" idx="1"/>
          </p:nvPr>
        </p:nvSpPr>
        <p:spPr bwMode="auto">
          <a:xfrm>
            <a:off x="838198" y="1825624"/>
            <a:ext cx="10515597" cy="43513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lnSpc>
                <a:spcPct val="200000"/>
              </a:lnSpc>
              <a:defRPr/>
            </a:pPr>
            <a:r>
              <a:rPr/>
              <a:t>Z1: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Einheitlicher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Zugang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- Unified Dashboard</a:t>
            </a:r>
            <a:endParaRPr/>
          </a:p>
          <a:p>
            <a:pPr>
              <a:lnSpc>
                <a:spcPct val="20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Z2: Cross-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Plattform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-Integration</a:t>
            </a:r>
            <a:endParaRPr/>
          </a:p>
          <a:p>
            <a:pPr>
              <a:lnSpc>
                <a:spcPct val="20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Z3: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Automatisiertes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Rollen-/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Rechtesystem</a:t>
            </a:r>
            <a:endParaRPr/>
          </a:p>
        </p:txBody>
      </p:sp>
      <p:pic>
        <p:nvPicPr>
          <p:cNvPr id="22542323" name="Picture 134117564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78041" y="528315"/>
            <a:ext cx="3486506" cy="999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204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0204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204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0204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204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0204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20486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351030" name="Google Shape;30;p5"/>
          <p:cNvSpPr txBox="1"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Deliverables</a:t>
            </a:r>
            <a:endParaRPr/>
          </a:p>
        </p:txBody>
      </p:sp>
      <p:sp>
        <p:nvSpPr>
          <p:cNvPr id="1440428156" name="Google Shape;31;p5"/>
          <p:cNvSpPr txBox="1">
            <a:spLocks noGrp="1"/>
          </p:cNvSpPr>
          <p:nvPr>
            <p:ph type="body" idx="1"/>
          </p:nvPr>
        </p:nvSpPr>
        <p:spPr bwMode="auto">
          <a:xfrm>
            <a:off x="838197" y="1825623"/>
            <a:ext cx="5257801" cy="43513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marL="457200" marR="0" indent="-342900" algn="l">
              <a:lnSpc>
                <a:spcPct val="2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GhassiStream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Video-Streaming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457200" marR="0" indent="-342900" algn="l">
              <a:lnSpc>
                <a:spcPct val="2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GhassiMusic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Musik-Streaming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457200" marR="0" indent="-342900" algn="l">
              <a:lnSpc>
                <a:spcPct val="2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GhassiGallery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Fotoverwaltung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457200" marR="0" indent="-342900" algn="l">
              <a:lnSpc>
                <a:spcPct val="20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GhassiDrive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Dateispeicher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40301765" name="Picture 204816956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78041" y="528315"/>
            <a:ext cx="3486506" cy="999180"/>
          </a:xfrm>
          <a:prstGeom prst="rect">
            <a:avLst/>
          </a:prstGeom>
        </p:spPr>
      </p:pic>
      <p:sp>
        <p:nvSpPr>
          <p:cNvPr id="972146656" name="Google Shape;31;p5"/>
          <p:cNvSpPr txBox="1">
            <a:spLocks noGrp="1"/>
          </p:cNvSpPr>
          <p:nvPr/>
        </p:nvSpPr>
        <p:spPr bwMode="auto">
          <a:xfrm>
            <a:off x="6576613" y="1825623"/>
            <a:ext cx="5257801" cy="231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457200" marR="0" indent="-342900" algn="l">
              <a:lnSpc>
                <a:spcPct val="20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GhassiNotes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Notizverwaltung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457200" marR="0" indent="-342900" algn="l">
              <a:lnSpc>
                <a:spcPct val="20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GhassiShare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Quick-Sharing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428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0428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428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0428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428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40428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428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0428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146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72146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146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72146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042815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128049" name="Google Shape;30;p5"/>
          <p:cNvSpPr txBox="1"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132556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Tech Stack</a:t>
            </a:r>
            <a:endParaRPr/>
          </a:p>
        </p:txBody>
      </p:sp>
      <p:sp>
        <p:nvSpPr>
          <p:cNvPr id="514357650" name="Google Shape;31;p5"/>
          <p:cNvSpPr txBox="1">
            <a:spLocks noGrp="1"/>
          </p:cNvSpPr>
          <p:nvPr>
            <p:ph type="body" idx="1"/>
          </p:nvPr>
        </p:nvSpPr>
        <p:spPr bwMode="auto">
          <a:xfrm>
            <a:off x="838197" y="1825623"/>
            <a:ext cx="10515597" cy="43513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Docker: Container-Orchestration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React Native: Website + PWA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Keycloak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SSO &amp; OAuth2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Caddy: Reverse Proxy &amp; TLS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Cloudflare: DDoS-Schutz &amp; DNS</a:t>
            </a:r>
            <a:endParaRPr/>
          </a:p>
        </p:txBody>
      </p:sp>
      <p:pic>
        <p:nvPicPr>
          <p:cNvPr id="1904759376" name="Picture 77133692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78041" y="528314"/>
            <a:ext cx="3486506" cy="999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5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435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5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435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5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435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5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435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5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435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35765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752279" name="Google Shape;30;p5"/>
          <p:cNvSpPr txBox="1"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Evaluation</a:t>
            </a:r>
            <a:endParaRPr/>
          </a:p>
        </p:txBody>
      </p:sp>
      <p:sp>
        <p:nvSpPr>
          <p:cNvPr id="1551847733" name="Google Shape;31;p5"/>
          <p:cNvSpPr txBox="1">
            <a:spLocks noGrp="1"/>
          </p:cNvSpPr>
          <p:nvPr>
            <p:ph type="body" idx="1"/>
          </p:nvPr>
        </p:nvSpPr>
        <p:spPr bwMode="auto">
          <a:xfrm>
            <a:off x="838198" y="1825624"/>
            <a:ext cx="10515597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t" anchorCtr="0" forceAA="0" compatLnSpc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erfolgreiche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Integration von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Keycloak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-Auth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mit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allen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Services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vereinheitlichte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Authentifizierung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über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alle Services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/>
              <a:t>mehr</a:t>
            </a:r>
            <a:r>
              <a:rPr/>
              <a:t> </a:t>
            </a:r>
            <a:r>
              <a:rPr/>
              <a:t>als</a:t>
            </a:r>
            <a:r>
              <a:rPr/>
              <a:t> </a:t>
            </a:r>
            <a:r>
              <a:rPr b="1"/>
              <a:t>5 </a:t>
            </a:r>
            <a:r>
              <a:rPr b="0"/>
              <a:t>aktive</a:t>
            </a:r>
            <a:r>
              <a:rPr b="0"/>
              <a:t> </a:t>
            </a:r>
            <a:r>
              <a:rPr b="0"/>
              <a:t>Nutzer</a:t>
            </a:r>
            <a:endParaRPr b="0"/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keine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Abokosten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dafür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admin.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Wartungsaufwand</a:t>
            </a:r>
            <a:endParaRPr sz="2800"/>
          </a:p>
          <a:p>
            <a:pPr>
              <a:lnSpc>
                <a:spcPct val="150000"/>
              </a:lnSpc>
              <a:defRPr/>
            </a:pPr>
            <a:r>
              <a:rPr b="0"/>
              <a:t>erreichbar</a:t>
            </a:r>
            <a:r>
              <a:rPr b="0"/>
              <a:t> </a:t>
            </a:r>
            <a:r>
              <a:rPr b="0"/>
              <a:t>als</a:t>
            </a:r>
            <a:r>
              <a:rPr b="0"/>
              <a:t> PWA, nicht </a:t>
            </a:r>
            <a:r>
              <a:rPr b="0"/>
              <a:t>jedoch</a:t>
            </a:r>
            <a:r>
              <a:rPr b="0"/>
              <a:t> </a:t>
            </a:r>
            <a:r>
              <a:rPr b="0"/>
              <a:t>als</a:t>
            </a:r>
            <a:r>
              <a:rPr b="0"/>
              <a:t> native mobile </a:t>
            </a:r>
            <a:r>
              <a:rPr b="0"/>
              <a:t>Applikation</a:t>
            </a:r>
            <a:endParaRPr b="0"/>
          </a:p>
        </p:txBody>
      </p:sp>
      <p:pic>
        <p:nvPicPr>
          <p:cNvPr id="1204033948" name="Picture 200401369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78041" y="528315"/>
            <a:ext cx="3486506" cy="999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847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1847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847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51847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847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51847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847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51847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847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51847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184773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460633" name="Google Shape;30;p5"/>
          <p:cNvSpPr txBox="1"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132556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Ausblick</a:t>
            </a:r>
            <a:endParaRPr/>
          </a:p>
        </p:txBody>
      </p:sp>
      <p:sp>
        <p:nvSpPr>
          <p:cNvPr id="1187225652" name="Google Shape;31;p5"/>
          <p:cNvSpPr txBox="1">
            <a:spLocks noGrp="1"/>
          </p:cNvSpPr>
          <p:nvPr>
            <p:ph type="body" idx="1"/>
          </p:nvPr>
        </p:nvSpPr>
        <p:spPr bwMode="auto">
          <a:xfrm>
            <a:off x="838197" y="1825623"/>
            <a:ext cx="10515597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t" anchorCtr="0" forceAA="0" compatLnSpc="0">
            <a:normAutofit fontScale="80000" lnSpcReduction="14000"/>
          </a:bodyPr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Integration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weiterer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Services (Simple Gaming, Messenger, ...)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Native mobile Apps für Android &amp; iOS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Electron Desktop Application für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erweiterte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Desktop-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Funktionalität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Request-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Plattform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für Medien,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Funktionen</a:t>
            </a:r>
            <a:endParaRPr lang="en-US" sz="28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Georedundanz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inkl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DB-HA an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zwei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Standorten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in Ö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Navidrome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OIDC-Support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Vollständige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CI/CD-Pipeline</a:t>
            </a:r>
            <a:endParaRPr/>
          </a:p>
        </p:txBody>
      </p:sp>
      <p:pic>
        <p:nvPicPr>
          <p:cNvPr id="340354508" name="Picture 50613547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78041" y="528314"/>
            <a:ext cx="3486506" cy="999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225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7225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225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87225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225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87225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225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87225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225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87225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2256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872256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2256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872256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22565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36538" name="Google Shape;13;p2"/>
          <p:cNvSpPr txBox="1"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456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 fontScale="92500" lnSpcReduction="20000"/>
          </a:bodyPr>
          <a:lstStyle>
            <a:lvl1pPr lvl="0" algn="ctr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r>
              <a:rPr/>
              <a:t>Fragen, Demo &amp; Diskussion</a:t>
            </a:r>
            <a:endParaRPr/>
          </a:p>
        </p:txBody>
      </p:sp>
      <p:pic>
        <p:nvPicPr>
          <p:cNvPr id="2115434173" name="Picture 110630515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78041" y="528313"/>
            <a:ext cx="3486506" cy="999180"/>
          </a:xfrm>
          <a:prstGeom prst="rect">
            <a:avLst/>
          </a:prstGeom>
        </p:spPr>
      </p:pic>
      <p:sp>
        <p:nvSpPr>
          <p:cNvPr id="1058568701" name="Google Shape;12;p2"/>
          <p:cNvSpPr txBox="1"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Vielen Dank!</a:t>
            </a:r>
            <a:endParaRPr/>
          </a:p>
        </p:txBody>
      </p:sp>
      <p:sp>
        <p:nvSpPr>
          <p:cNvPr id="600745222" name="Google Shape;13;p2"/>
          <p:cNvSpPr txBox="1">
            <a:spLocks noGrp="1"/>
          </p:cNvSpPr>
          <p:nvPr/>
        </p:nvSpPr>
        <p:spPr bwMode="auto">
          <a:xfrm>
            <a:off x="1676399" y="4121547"/>
            <a:ext cx="9144000" cy="521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399" algn="ctr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0999" algn="ctr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599" algn="ctr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r>
              <a:rPr sz="1400">
                <a:solidFill>
                  <a:schemeClr val="bg1">
                    <a:lumMod val="50000"/>
                  </a:schemeClr>
                </a:solidFill>
              </a:rPr>
              <a:t>GhassiCloud – Embrace Digital Sovereignty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onlyoffice/9.2.1.8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GhassiCoud: A Modern Alternative to Centralized Cloud Services - Empowering Digital Sovereignty Through Self-Hosting</dc:title>
  <dc:creator>Ghassan Darwish</dc:creator>
  <cp:keywords>bachelor</cp:keywords>
  <cp:lastModifiedBy>ghassan-darwish@hotmail.com</cp:lastModifiedBy>
  <cp:revision>13</cp:revision>
  <dcterms:modified xsi:type="dcterms:W3CDTF">2026-01-26T11:23:21Z</dcterms:modified>
</cp:coreProperties>
</file>